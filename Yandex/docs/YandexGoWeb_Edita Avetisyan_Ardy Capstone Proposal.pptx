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CC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18" Type="http://schemas.openxmlformats.org/officeDocument/2006/relationships/image" Target="../media/image40.png"/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" Type="http://schemas.openxmlformats.org/officeDocument/2006/relationships/image" Target="../media/image1.png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18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4" Type="http://schemas.openxmlformats.org/officeDocument/2006/relationships/image" Target="../media/image27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8.png"/><Relationship Id="rId7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6.png"/><Relationship Id="rId18" Type="http://schemas.openxmlformats.org/officeDocument/2006/relationships/image" Target="../media/image61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55.png"/><Relationship Id="rId17" Type="http://schemas.openxmlformats.org/officeDocument/2006/relationships/image" Target="../media/image60.png"/><Relationship Id="rId2" Type="http://schemas.openxmlformats.org/officeDocument/2006/relationships/image" Target="../media/image1.png"/><Relationship Id="rId16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11" Type="http://schemas.openxmlformats.org/officeDocument/2006/relationships/image" Target="../media/image18.png"/><Relationship Id="rId5" Type="http://schemas.openxmlformats.org/officeDocument/2006/relationships/image" Target="../media/image49.png"/><Relationship Id="rId15" Type="http://schemas.openxmlformats.org/officeDocument/2006/relationships/image" Target="../media/image58.png"/><Relationship Id="rId10" Type="http://schemas.openxmlformats.org/officeDocument/2006/relationships/image" Target="../media/image54.png"/><Relationship Id="rId19" Type="http://schemas.openxmlformats.org/officeDocument/2006/relationships/image" Target="../media/image62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Relationship Id="rId14" Type="http://schemas.openxmlformats.org/officeDocument/2006/relationships/image" Target="../media/image5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3.png"/><Relationship Id="rId7" Type="http://schemas.openxmlformats.org/officeDocument/2006/relationships/image" Target="../media/image6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openxmlformats.org/officeDocument/2006/relationships/image" Target="../media/image18.png"/><Relationship Id="rId4" Type="http://schemas.openxmlformats.org/officeDocument/2006/relationships/image" Target="../media/image6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12" Type="http://schemas.openxmlformats.org/officeDocument/2006/relationships/image" Target="../media/image7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11" Type="http://schemas.openxmlformats.org/officeDocument/2006/relationships/image" Target="../media/image18.png"/><Relationship Id="rId5" Type="http://schemas.openxmlformats.org/officeDocument/2006/relationships/image" Target="../media/image73.png"/><Relationship Id="rId10" Type="http://schemas.openxmlformats.org/officeDocument/2006/relationships/image" Target="../media/image78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80.png"/><Relationship Id="rId7" Type="http://schemas.openxmlformats.org/officeDocument/2006/relationships/image" Target="../media/image8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10" Type="http://schemas.openxmlformats.org/officeDocument/2006/relationships/image" Target="../media/image86.png"/><Relationship Id="rId4" Type="http://schemas.openxmlformats.org/officeDocument/2006/relationships/image" Target="../media/image18.png"/><Relationship Id="rId9" Type="http://schemas.openxmlformats.org/officeDocument/2006/relationships/image" Target="../media/image8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384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574827"/>
            <a:ext cx="8555736" cy="6191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3400" y="2092672"/>
            <a:ext cx="11658600" cy="1067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lang="en-US" sz="3900" b="1" dirty="0">
                <a:solidFill>
                  <a:schemeClr val="bg1"/>
                </a:solidFill>
                <a:latin typeface="Poppins"/>
              </a:rPr>
              <a:t>Yandex</a:t>
            </a:r>
            <a:r>
              <a:rPr lang="en-US" sz="3900" b="1" dirty="0">
                <a:solidFill>
                  <a:srgbClr val="FFFFFF"/>
                </a:solidFill>
                <a:latin typeface="Poppins"/>
              </a:rPr>
              <a:t> </a:t>
            </a:r>
            <a:r>
              <a:rPr lang="en-US" sz="3900" b="1" dirty="0">
                <a:solidFill>
                  <a:srgbClr val="FACC15"/>
                </a:solidFill>
                <a:latin typeface="Poppins"/>
              </a:rPr>
              <a:t>Go</a:t>
            </a:r>
            <a:r>
              <a:rPr lang="en-US" sz="3900" b="1" dirty="0">
                <a:solidFill>
                  <a:srgbClr val="FFFFFF"/>
                </a:solidFill>
                <a:latin typeface="Poppins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Poppins"/>
              </a:rPr>
              <a:t>Armenia</a:t>
            </a:r>
            <a:r>
              <a:rPr sz="3900" b="1" i="0" u="none" dirty="0">
                <a:solidFill>
                  <a:srgbClr val="FFFFFF"/>
                </a:solidFill>
                <a:latin typeface="Poppins"/>
              </a:rPr>
              <a:t> </a:t>
            </a:r>
            <a:endParaRPr lang="en-US" sz="3900" b="1" i="0" u="none" dirty="0">
              <a:solidFill>
                <a:srgbClr val="FFFFFF"/>
              </a:solidFill>
              <a:latin typeface="Poppins"/>
            </a:endParaRPr>
          </a:p>
          <a:p>
            <a:pPr algn="l">
              <a:lnSpc>
                <a:spcPts val="4484"/>
              </a:lnSpc>
            </a:pPr>
            <a:r>
              <a:rPr lang="en-US" sz="1600" b="1" i="0" u="none" dirty="0">
                <a:solidFill>
                  <a:srgbClr val="FFFFFF"/>
                </a:solidFill>
                <a:latin typeface="Poppins"/>
              </a:rPr>
              <a:t>Ride-Hailing </a:t>
            </a:r>
            <a:r>
              <a:rPr sz="1600" b="1" i="0" u="none" dirty="0">
                <a:solidFill>
                  <a:srgbClr val="FFFFFF"/>
                </a:solidFill>
                <a:latin typeface="Poppins"/>
              </a:rPr>
              <a:t>Market</a:t>
            </a:r>
            <a:r>
              <a:rPr lang="en-US" sz="1600" b="1" i="0" u="none" dirty="0">
                <a:solidFill>
                  <a:srgbClr val="FFFFFF"/>
                </a:solidFill>
                <a:latin typeface="Poppins"/>
              </a:rPr>
              <a:t> </a:t>
            </a:r>
            <a:r>
              <a:rPr sz="1600" b="1" i="0" u="none" dirty="0">
                <a:solidFill>
                  <a:srgbClr val="FFFFFF"/>
                </a:solidFill>
                <a:latin typeface="Poppins"/>
              </a:rPr>
              <a:t>Intelligence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664046"/>
            <a:ext cx="3652837" cy="385863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3908077"/>
            <a:ext cx="1104900" cy="2857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3550" y="3908077"/>
            <a:ext cx="2124075" cy="2857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2875" y="3908077"/>
            <a:ext cx="2181225" cy="2857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9350" y="3908077"/>
            <a:ext cx="1438275" cy="2857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62875" y="3908077"/>
            <a:ext cx="1495425" cy="2857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1525" y="4736752"/>
            <a:ext cx="11049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Student / Author</a:t>
            </a:r>
            <a:r>
              <a:rPr sz="1200" b="0" i="0" u="none">
                <a:solidFill>
                  <a:srgbClr val="F1F5F9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F1F5F9"/>
                </a:solidFill>
                <a:latin typeface="Inter SemiBold"/>
              </a:rPr>
              <a:t>Edita Avetisyan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90825" y="4736752"/>
            <a:ext cx="1395412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Lecturer / Supervisor</a:t>
            </a:r>
            <a:r>
              <a:rPr sz="1200" b="0" i="0" u="none">
                <a:solidFill>
                  <a:srgbClr val="F1F5F9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F1F5F9"/>
                </a:solidFill>
                <a:latin typeface="Inter SemiBold"/>
              </a:rPr>
              <a:t>Artyom Gasparyan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00637" y="4736752"/>
            <a:ext cx="125139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64748B"/>
                </a:solidFill>
                <a:latin typeface="Inter"/>
              </a:rPr>
              <a:t>Institution</a:t>
            </a:r>
            <a:r>
              <a:rPr sz="1200" b="0" i="0" u="none" dirty="0">
                <a:solidFill>
                  <a:srgbClr val="F1F5F9"/>
                </a:solidFill>
                <a:latin typeface="Inter"/>
              </a:rPr>
              <a:t> </a:t>
            </a:r>
            <a:endParaRPr lang="en-US" sz="1200" b="0" i="0" u="none" dirty="0">
              <a:solidFill>
                <a:srgbClr val="F1F5F9"/>
              </a:solidFill>
              <a:latin typeface="Inter"/>
            </a:endParaRPr>
          </a:p>
          <a:p>
            <a:pPr algn="l"/>
            <a:r>
              <a:rPr lang="en-US" sz="1200" b="0" i="0" u="none" dirty="0">
                <a:solidFill>
                  <a:srgbClr val="F1F5F9"/>
                </a:solidFill>
                <a:latin typeface="Inter SemiBold"/>
              </a:rPr>
              <a:t>Ardy Academy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7062" y="4736752"/>
            <a:ext cx="93821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64748B"/>
                </a:solidFill>
                <a:latin typeface="Inter"/>
              </a:rPr>
              <a:t>Academic Year</a:t>
            </a:r>
            <a:r>
              <a:rPr sz="1200" b="0" i="0" u="none" dirty="0">
                <a:solidFill>
                  <a:srgbClr val="F1F5F9"/>
                </a:solidFill>
                <a:latin typeface="Inter"/>
              </a:rPr>
              <a:t> </a:t>
            </a:r>
            <a:r>
              <a:rPr sz="1200" b="0" i="0" u="none" dirty="0">
                <a:solidFill>
                  <a:srgbClr val="F1F5F9"/>
                </a:solidFill>
                <a:latin typeface="Inter SemiBold"/>
              </a:rPr>
              <a:t>2026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275" y="1745009"/>
            <a:ext cx="152400" cy="1238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367" y="3980556"/>
            <a:ext cx="104775" cy="1238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81175" y="3989040"/>
            <a:ext cx="152400" cy="1238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03357" y="3989040"/>
            <a:ext cx="104775" cy="1238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00787" y="3989039"/>
            <a:ext cx="142875" cy="1238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26882" y="3992247"/>
            <a:ext cx="142875" cy="12382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25734E5-46C7-0281-1DB8-100BE2FBA5EE}"/>
              </a:ext>
            </a:extLst>
          </p:cNvPr>
          <p:cNvSpPr txBox="1"/>
          <p:nvPr/>
        </p:nvSpPr>
        <p:spPr>
          <a:xfrm>
            <a:off x="509016" y="3494517"/>
            <a:ext cx="111252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 dirty="0">
                <a:solidFill>
                  <a:srgbClr val="38BDF8"/>
                </a:solidFill>
                <a:latin typeface="Inter Medium"/>
              </a:rPr>
              <a:t>Automated Data Collection, Relational Warehousing &amp; Executive BI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738437"/>
            <a:ext cx="3581400" cy="2105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300" y="2738437"/>
            <a:ext cx="3581400" cy="2105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7200" y="2738437"/>
            <a:ext cx="3581400" cy="2105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6391275"/>
            <a:ext cx="111252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1275" y="538162"/>
            <a:ext cx="1457325" cy="285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3400" y="6515100"/>
            <a:ext cx="32766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64748B"/>
                </a:solidFill>
                <a:latin typeface="Inter"/>
              </a:rPr>
              <a:t>Student: </a:t>
            </a:r>
            <a:r>
              <a:rPr sz="900" b="0" i="0" u="none" dirty="0">
                <a:solidFill>
                  <a:srgbClr val="94A3B8"/>
                </a:solidFill>
                <a:latin typeface="Inter"/>
              </a:rPr>
              <a:t>Edita Avetisyan</a:t>
            </a:r>
            <a:r>
              <a:rPr sz="900" b="0" i="0" u="none" dirty="0">
                <a:solidFill>
                  <a:srgbClr val="64748B"/>
                </a:solidFill>
                <a:latin typeface="Inter"/>
              </a:rPr>
              <a:t> | Lecturer: </a:t>
            </a:r>
            <a:r>
              <a:rPr sz="900" b="0" i="0" u="none" dirty="0">
                <a:solidFill>
                  <a:srgbClr val="94A3B8"/>
                </a:solidFill>
                <a:latin typeface="Inter"/>
              </a:rPr>
              <a:t>Artyom Gasparyan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58450" y="6515100"/>
            <a:ext cx="12001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Ardy Academy • 2026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475" y="2957512"/>
            <a:ext cx="419100" cy="4191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2475" y="3529012"/>
            <a:ext cx="330041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FFFFFF"/>
                </a:solidFill>
                <a:latin typeface="Poppins SemiBold"/>
              </a:rPr>
              <a:t>Market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2475" y="3852862"/>
            <a:ext cx="31432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94A3B8"/>
                </a:solidFill>
                <a:latin typeface="Inter"/>
              </a:rPr>
              <a:t>Ride-hailing pricing and availability fluctuate dynamically across locations and time periods. Accessing granular, historical market trends requires automated real-time observation.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24375" y="2957512"/>
            <a:ext cx="419100" cy="4191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24375" y="3529012"/>
            <a:ext cx="330041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FFFFFF"/>
                </a:solidFill>
                <a:latin typeface="Poppins SemiBold"/>
              </a:rPr>
              <a:t>Data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4375" y="3852862"/>
            <a:ext cx="31432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94A3B8"/>
                </a:solidFill>
                <a:latin typeface="Inter"/>
              </a:rPr>
              <a:t>An automated end-to-end data pipeline harvesting publicly observable estimates every 15 minutes, standardizing raw feeds into an enterprise MySQL data warehouse.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96275" y="2957512"/>
            <a:ext cx="419100" cy="4191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96275" y="3529012"/>
            <a:ext cx="330041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FFFFFF"/>
                </a:solidFill>
                <a:latin typeface="Poppins SemiBold"/>
              </a:rPr>
              <a:t>Strategic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6275" y="3852862"/>
            <a:ext cx="31432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94A3B8"/>
                </a:solidFill>
                <a:latin typeface="Inter"/>
              </a:rPr>
              <a:t>Delivers executive Power BI dashboards unlocking pricing patterns, peak demand surges, district heatmaps, and predictive pricing models for market intelligence.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6775" y="3071812"/>
            <a:ext cx="190500" cy="1905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14862" y="3071812"/>
            <a:ext cx="238125" cy="1905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10575" y="3071812"/>
            <a:ext cx="190500" cy="1905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33400" y="438150"/>
            <a:ext cx="11658600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Poppins"/>
              </a:rPr>
              <a:t>Executive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783556"/>
            <a:ext cx="3581400" cy="191214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300" y="1783556"/>
            <a:ext cx="3581400" cy="191214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0" y="1783556"/>
            <a:ext cx="3581400" cy="191214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886200"/>
            <a:ext cx="3581400" cy="1912143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300" y="3886200"/>
            <a:ext cx="3581400" cy="1912143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0" y="3886200"/>
            <a:ext cx="3581400" cy="1912143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6391275"/>
            <a:ext cx="11125200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8900" y="538162"/>
            <a:ext cx="1409700" cy="2857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3400" y="6515100"/>
            <a:ext cx="32766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Student: </a:t>
            </a:r>
            <a:r>
              <a:rPr sz="900" b="0" i="0" u="none">
                <a:solidFill>
                  <a:srgbClr val="94A3B8"/>
                </a:solidFill>
                <a:latin typeface="Inter"/>
              </a:rPr>
              <a:t>Edita Avetisyan</a:t>
            </a:r>
            <a:r>
              <a:rPr sz="900" b="0" i="0" u="none">
                <a:solidFill>
                  <a:srgbClr val="64748B"/>
                </a:solidFill>
                <a:latin typeface="Inter"/>
              </a:rPr>
              <a:t> | Lecturer: </a:t>
            </a:r>
            <a:r>
              <a:rPr sz="900" b="0" i="0" u="none">
                <a:solidFill>
                  <a:srgbClr val="94A3B8"/>
                </a:solidFill>
                <a:latin typeface="Inter"/>
              </a:rPr>
              <a:t>Artyom Gasparyan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58450" y="6515100"/>
            <a:ext cx="12001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Ardy Academy • 2026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2002631"/>
            <a:ext cx="419100" cy="4191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52475" y="2574131"/>
            <a:ext cx="330041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FFFFFF"/>
                </a:solidFill>
                <a:latin typeface="Poppins SemiBold"/>
              </a:rPr>
              <a:t>1. Automated Scraping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475" y="2897981"/>
            <a:ext cx="3143250" cy="578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94A3B8"/>
                </a:solidFill>
                <a:latin typeface="Inter"/>
              </a:rPr>
              <a:t>Build resilient Python &amp; Playwright scrapers capturing fare estimates, ETAs, and surge rates from 50+ locations every 15 mins.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4375" y="2002631"/>
            <a:ext cx="419100" cy="4191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24375" y="2574131"/>
            <a:ext cx="330041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FFFFFF"/>
                </a:solidFill>
                <a:latin typeface="Poppins SemiBold"/>
              </a:rPr>
              <a:t>2. MySQL Warehouse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4375" y="2897981"/>
            <a:ext cx="3143250" cy="578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94A3B8"/>
                </a:solidFill>
                <a:latin typeface="Inter"/>
              </a:rPr>
              <a:t>Architect a scalable relational warehouse storing thousands of time-series observations with full data integrity.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96275" y="2002631"/>
            <a:ext cx="419100" cy="4191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96275" y="2574131"/>
            <a:ext cx="330041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FFFFFF"/>
                </a:solidFill>
                <a:latin typeface="Poppins SemiBold"/>
              </a:rPr>
              <a:t>3. Star Schema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6275" y="2897981"/>
            <a:ext cx="3143250" cy="578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94A3B8"/>
                </a:solidFill>
                <a:latin typeface="Inter"/>
              </a:rPr>
              <a:t>Develop optimized dimensional models with explicit Fact and Dimension tables for high-performance BI queries.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2475" y="4105275"/>
            <a:ext cx="419100" cy="4191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52475" y="4676775"/>
            <a:ext cx="330041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FFFFFF"/>
                </a:solidFill>
                <a:latin typeface="Poppins SemiBold"/>
              </a:rPr>
              <a:t>4. Python ETL Pipeline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2475" y="5000625"/>
            <a:ext cx="3143250" cy="578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94A3B8"/>
                </a:solidFill>
                <a:latin typeface="Inter"/>
              </a:rPr>
              <a:t>Implement Pandas transformations for data cleaning, geo-tagging, missing value handling, and scheduled database ingestion.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24375" y="4105275"/>
            <a:ext cx="419100" cy="4191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524375" y="4676775"/>
            <a:ext cx="330041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FFFFFF"/>
                </a:solidFill>
                <a:latin typeface="Poppins SemiBold"/>
              </a:rPr>
              <a:t>5. Power BI Dashboards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4375" y="5000625"/>
            <a:ext cx="3143250" cy="578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94A3B8"/>
                </a:solidFill>
                <a:latin typeface="Inter"/>
              </a:rPr>
              <a:t>Design a comprehensive multi-tab executive dashboard featuring advanced DAX metrics, interactive filters, and drill-downs.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96275" y="4105275"/>
            <a:ext cx="419100" cy="4191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296275" y="4676775"/>
            <a:ext cx="330041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FFFFFF"/>
                </a:solidFill>
                <a:latin typeface="Poppins SemiBold"/>
              </a:rPr>
              <a:t>6. Market Intelligence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6275" y="5000625"/>
            <a:ext cx="3143250" cy="578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94A3B8"/>
                </a:solidFill>
                <a:latin typeface="Inter"/>
              </a:rPr>
              <a:t>Extract actionable business insights on surge pricing, airport premiums, district demand, and predictive fare modeling.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2962" y="2116931"/>
            <a:ext cx="238125" cy="1905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48200" y="2116931"/>
            <a:ext cx="171450" cy="1905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96287" y="2116931"/>
            <a:ext cx="219075" cy="1905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6775" y="4219575"/>
            <a:ext cx="190500" cy="1905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24387" y="4219575"/>
            <a:ext cx="219075" cy="1905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10575" y="4219575"/>
            <a:ext cx="190500" cy="1905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33400" y="438150"/>
            <a:ext cx="11658600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Poppins"/>
              </a:rPr>
              <a:t>Core Business Objectives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6391275"/>
            <a:ext cx="11125200" cy="266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0775" y="538162"/>
            <a:ext cx="1647825" cy="285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3400" y="6515100"/>
            <a:ext cx="32766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Student: </a:t>
            </a:r>
            <a:r>
              <a:rPr sz="900" b="0" i="0" u="none">
                <a:solidFill>
                  <a:srgbClr val="94A3B8"/>
                </a:solidFill>
                <a:latin typeface="Inter"/>
              </a:rPr>
              <a:t>Edita Avetisyan</a:t>
            </a:r>
            <a:r>
              <a:rPr sz="900" b="0" i="0" u="none">
                <a:solidFill>
                  <a:srgbClr val="64748B"/>
                </a:solidFill>
                <a:latin typeface="Inter"/>
              </a:rPr>
              <a:t> | Lecturer: </a:t>
            </a:r>
            <a:r>
              <a:rPr sz="900" b="0" i="0" u="none">
                <a:solidFill>
                  <a:srgbClr val="94A3B8"/>
                </a:solidFill>
                <a:latin typeface="Inter"/>
              </a:rPr>
              <a:t>Artyom Gasparyan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8450" y="6515100"/>
            <a:ext cx="12001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Ardy Academy •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3400" y="2159793"/>
            <a:ext cx="11125200" cy="538162"/>
          </a:xfrm>
          <a:prstGeom prst="roundRect">
            <a:avLst>
              <a:gd name="adj" fmla="val 14159"/>
            </a:avLst>
          </a:prstGeom>
          <a:solidFill>
            <a:srgbClr val="1E29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9650" y="2312193"/>
            <a:ext cx="10458450" cy="2333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FFFFFF"/>
                </a:solidFill>
                <a:latin typeface="Inter"/>
              </a:rPr>
              <a:t>Dynamic Pricing Patterns: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When are ride fares most expensive throughout the day and week, and what triggers surge pricing spikes?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3400" y="2812256"/>
            <a:ext cx="11125200" cy="538162"/>
          </a:xfrm>
          <a:prstGeom prst="roundRect">
            <a:avLst>
              <a:gd name="adj" fmla="val 14159"/>
            </a:avLst>
          </a:prstGeom>
          <a:solidFill>
            <a:srgbClr val="1E29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9650" y="2964656"/>
            <a:ext cx="10458450" cy="2333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FFFFFF"/>
                </a:solidFill>
                <a:latin typeface="Inter"/>
              </a:rPr>
              <a:t>Geographic &amp; District Variance: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Which pickup districts and inter-city routes exhibit the highest average fare per kilometer?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3400" y="3464718"/>
            <a:ext cx="11125200" cy="538162"/>
          </a:xfrm>
          <a:prstGeom prst="roundRect">
            <a:avLst>
              <a:gd name="adj" fmla="val 14159"/>
            </a:avLst>
          </a:prstGeom>
          <a:solidFill>
            <a:srgbClr val="1E29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9650" y="3617118"/>
            <a:ext cx="10458450" cy="2333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FFFFFF"/>
                </a:solidFill>
                <a:latin typeface="Inter"/>
              </a:rPr>
              <a:t>Traffic vs. ETA Correlations: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How severely does peak traffic congestion impact Estimated Time of Arrival (ETA) across major urban hubs?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3400" y="4117181"/>
            <a:ext cx="11125200" cy="538162"/>
          </a:xfrm>
          <a:prstGeom prst="roundRect">
            <a:avLst>
              <a:gd name="adj" fmla="val 14159"/>
            </a:avLst>
          </a:prstGeom>
          <a:solidFill>
            <a:srgbClr val="1E29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9650" y="4269581"/>
            <a:ext cx="10458450" cy="2333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FFFFFF"/>
                </a:solidFill>
                <a:latin typeface="Inter"/>
              </a:rPr>
              <a:t>Ride Tier Value Comparison: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How do Economy, Comfort, Comfort+, Minivan, and Business tiers compare in price, ETA, and availability?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3400" y="4769643"/>
            <a:ext cx="11125200" cy="538162"/>
          </a:xfrm>
          <a:prstGeom prst="roundRect">
            <a:avLst>
              <a:gd name="adj" fmla="val 14159"/>
            </a:avLst>
          </a:prstGeom>
          <a:solidFill>
            <a:srgbClr val="1E29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9650" y="4922043"/>
            <a:ext cx="10458450" cy="2333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FFFFFF"/>
                </a:solidFill>
                <a:latin typeface="Inter"/>
              </a:rPr>
              <a:t>Predictive Price Modeling: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Can historical pricing and environmental variables be leveraged to accurately forecast future fare surges?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3400" y="2688431"/>
            <a:ext cx="111252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33400" y="3340893"/>
            <a:ext cx="111252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33400" y="3993356"/>
            <a:ext cx="111252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33400" y="4645818"/>
            <a:ext cx="111252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33400" y="5298281"/>
            <a:ext cx="111252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2336006"/>
            <a:ext cx="171450" cy="1809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2988468"/>
            <a:ext cx="190500" cy="1809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3640931"/>
            <a:ext cx="219075" cy="1809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375" y="4293393"/>
            <a:ext cx="190500" cy="1809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4375" y="4945856"/>
            <a:ext cx="171450" cy="1809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33400" y="438150"/>
            <a:ext cx="11658600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Poppins"/>
              </a:rPr>
              <a:t>Key Research Questions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961382"/>
            <a:ext cx="2002482" cy="165913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3893" y="2961382"/>
            <a:ext cx="2002482" cy="165913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4386" y="2961382"/>
            <a:ext cx="2002482" cy="165913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4880" y="2961382"/>
            <a:ext cx="2002482" cy="165913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5373" y="2961382"/>
            <a:ext cx="2002482" cy="165913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0266" y="3180457"/>
            <a:ext cx="2286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0760" y="3180457"/>
            <a:ext cx="22860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1253" y="3180457"/>
            <a:ext cx="22860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1746" y="3180457"/>
            <a:ext cx="22860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42240" y="3180457"/>
            <a:ext cx="228600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3400" y="6391275"/>
            <a:ext cx="11125200" cy="2667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91775" y="538162"/>
            <a:ext cx="1266825" cy="2857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3400" y="6515100"/>
            <a:ext cx="32766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Student: </a:t>
            </a:r>
            <a:r>
              <a:rPr sz="900" b="0" i="0" u="none">
                <a:solidFill>
                  <a:srgbClr val="94A3B8"/>
                </a:solidFill>
                <a:latin typeface="Inter"/>
              </a:rPr>
              <a:t>Edita Avetisyan</a:t>
            </a:r>
            <a:r>
              <a:rPr sz="900" b="0" i="0" u="none">
                <a:solidFill>
                  <a:srgbClr val="64748B"/>
                </a:solidFill>
                <a:latin typeface="Inter"/>
              </a:rPr>
              <a:t> | Lecturer: </a:t>
            </a:r>
            <a:r>
              <a:rPr sz="900" b="0" i="0" u="none">
                <a:solidFill>
                  <a:srgbClr val="94A3B8"/>
                </a:solidFill>
                <a:latin typeface="Inter"/>
              </a:rPr>
              <a:t>Artyom Gasparyan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58450" y="6515100"/>
            <a:ext cx="12001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Ardy Academy • 2026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01216" y="3504307"/>
            <a:ext cx="266700" cy="266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59494" y="3866257"/>
            <a:ext cx="1150143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FFFFFF"/>
                </a:solidFill>
                <a:latin typeface="Inter SemiBold"/>
              </a:rPr>
              <a:t>Yandex Go Web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375" y="4104382"/>
            <a:ext cx="1640532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Public estimate API endpoint &amp; pricing interface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17737" y="3695700"/>
            <a:ext cx="114300" cy="1905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62660" y="3504307"/>
            <a:ext cx="304800" cy="2667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425011" y="3866257"/>
            <a:ext cx="780097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FFFFFF"/>
                </a:solidFill>
                <a:latin typeface="Inter SemiBold"/>
              </a:rPr>
              <a:t>Playwright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94868" y="4104382"/>
            <a:ext cx="1640532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Automated headless scraper running every 15 min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98231" y="3695700"/>
            <a:ext cx="114300" cy="1905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28866" y="3504307"/>
            <a:ext cx="333375" cy="2667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685502" y="3866257"/>
            <a:ext cx="820102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FFFFFF"/>
                </a:solidFill>
                <a:latin typeface="Inter SemiBold"/>
              </a:rPr>
              <a:t>Python ETL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75361" y="4104382"/>
            <a:ext cx="1640532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sz="900" b="0" i="0" u="none" dirty="0">
                <a:solidFill>
                  <a:srgbClr val="94A3B8"/>
                </a:solidFill>
                <a:latin typeface="Inter"/>
              </a:rPr>
              <a:t>Pandas cleaning, parsing JSON &amp; structured load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78724" y="3695700"/>
            <a:ext cx="114300" cy="1905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56984" y="3504307"/>
            <a:ext cx="238125" cy="2667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985998" y="3866257"/>
            <a:ext cx="780097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FFFFFF"/>
                </a:solidFill>
                <a:latin typeface="Inter SemiBold"/>
              </a:rPr>
              <a:t>MySQL DB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55855" y="4104382"/>
            <a:ext cx="1640532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Star schema warehouse with fact &amp; dim tables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459217" y="3695700"/>
            <a:ext cx="114300" cy="1905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523190" y="3504307"/>
            <a:ext cx="266700" cy="2667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0331499" y="3866257"/>
            <a:ext cx="650081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FFFFFF"/>
                </a:solidFill>
                <a:latin typeface="Inter SemiBold"/>
              </a:rPr>
              <a:t>Power BI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36348" y="4104382"/>
            <a:ext cx="1640532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Interactive executive dashboard &amp; reporting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3400" y="438150"/>
            <a:ext cx="11658600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Poppins"/>
              </a:rPr>
              <a:t>End-to-End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628900"/>
            <a:ext cx="5395912" cy="2324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628900"/>
            <a:ext cx="5395912" cy="2324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6391275"/>
            <a:ext cx="111252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9850" y="538162"/>
            <a:ext cx="1428750" cy="285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400" y="6515100"/>
            <a:ext cx="32766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Student: </a:t>
            </a:r>
            <a:r>
              <a:rPr sz="900" b="0" i="0" u="none">
                <a:solidFill>
                  <a:srgbClr val="94A3B8"/>
                </a:solidFill>
                <a:latin typeface="Inter"/>
              </a:rPr>
              <a:t>Edita Avetisyan</a:t>
            </a:r>
            <a:r>
              <a:rPr sz="900" b="0" i="0" u="none">
                <a:solidFill>
                  <a:srgbClr val="64748B"/>
                </a:solidFill>
                <a:latin typeface="Inter"/>
              </a:rPr>
              <a:t> | Lecturer: </a:t>
            </a:r>
            <a:r>
              <a:rPr sz="900" b="0" i="0" u="none">
                <a:solidFill>
                  <a:srgbClr val="94A3B8"/>
                </a:solidFill>
                <a:latin typeface="Inter"/>
              </a:rPr>
              <a:t>Artyom Gasparyan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8450" y="6515100"/>
            <a:ext cx="12001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Ardy Academy •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2905125"/>
            <a:ext cx="5085635" cy="285750"/>
          </a:xfrm>
          <a:prstGeom prst="rect">
            <a:avLst/>
          </a:prstGeom>
          <a:noFill/>
        </p:spPr>
        <p:txBody>
          <a:bodyPr wrap="square" lIns="31432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ACC15"/>
                </a:solidFill>
                <a:latin typeface="Poppins"/>
              </a:rPr>
              <a:t>Automation &amp; Scraping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3305175"/>
            <a:ext cx="484346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• </a:t>
            </a:r>
            <a:r>
              <a:rPr sz="1125" b="1" i="0" u="none">
                <a:solidFill>
                  <a:srgbClr val="CBD5E1"/>
                </a:solidFill>
                <a:latin typeface="Inter"/>
              </a:rPr>
              <a:t>Frequency: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Cron-scheduled polling every 15 minutes across 50+ coordinate points in Armenia.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3762375"/>
            <a:ext cx="4843462" cy="211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 dirty="0">
                <a:solidFill>
                  <a:srgbClr val="CBD5E1"/>
                </a:solidFill>
                <a:latin typeface="Inter"/>
              </a:rPr>
              <a:t>• </a:t>
            </a:r>
            <a:r>
              <a:rPr sz="1125" b="1" i="0" u="none" dirty="0">
                <a:solidFill>
                  <a:srgbClr val="CBD5E1"/>
                </a:solidFill>
                <a:latin typeface="Inter"/>
              </a:rPr>
              <a:t>Technology:</a:t>
            </a:r>
            <a:r>
              <a:rPr sz="1125" b="0" i="0" u="none" dirty="0">
                <a:solidFill>
                  <a:srgbClr val="CBD5E1"/>
                </a:solidFill>
                <a:latin typeface="Inter"/>
              </a:rPr>
              <a:t> Python 3.1</a:t>
            </a:r>
            <a:r>
              <a:rPr lang="en-US" sz="1125" b="0" i="0" u="none" dirty="0">
                <a:solidFill>
                  <a:srgbClr val="CBD5E1"/>
                </a:solidFill>
                <a:latin typeface="Inter"/>
              </a:rPr>
              <a:t>4</a:t>
            </a:r>
            <a:r>
              <a:rPr sz="1125" b="0" i="0" u="none" dirty="0">
                <a:solidFill>
                  <a:srgbClr val="CBD5E1"/>
                </a:solidFill>
                <a:latin typeface="Inter"/>
              </a:rPr>
              <a:t> with Playwright async browser contexts for resilience.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4219575"/>
            <a:ext cx="484346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• </a:t>
            </a:r>
            <a:r>
              <a:rPr sz="1125" b="1" i="0" u="none">
                <a:solidFill>
                  <a:srgbClr val="CBD5E1"/>
                </a:solidFill>
                <a:latin typeface="Inter"/>
              </a:rPr>
              <a:t>Data Fields: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Pickup/Dropoff coords, Fare (AMD), ETA (mins), Distance (km), Ride Tier, Surge Multiplier, and Timestamp.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8912" y="2905125"/>
            <a:ext cx="5085635" cy="285750"/>
          </a:xfrm>
          <a:prstGeom prst="rect">
            <a:avLst/>
          </a:prstGeom>
          <a:noFill/>
        </p:spPr>
        <p:txBody>
          <a:bodyPr wrap="square" lIns="2952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ACC15"/>
                </a:solidFill>
                <a:latin typeface="Poppins"/>
              </a:rPr>
              <a:t>Star Schema Warehouse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8912" y="3305175"/>
            <a:ext cx="484346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• </a:t>
            </a:r>
            <a:r>
              <a:rPr sz="1125" b="1" i="0" u="none">
                <a:solidFill>
                  <a:srgbClr val="CBD5E1"/>
                </a:solidFill>
                <a:latin typeface="Inter"/>
              </a:rPr>
              <a:t>Fact Table: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FactRideEstimates containing metric values (fare, distance, ETA, surge index).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8912" y="3762375"/>
            <a:ext cx="484346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• </a:t>
            </a:r>
            <a:r>
              <a:rPr sz="1125" b="1" i="0" u="none">
                <a:solidFill>
                  <a:srgbClr val="CBD5E1"/>
                </a:solidFill>
                <a:latin typeface="Inter"/>
              </a:rPr>
              <a:t>Dimension Tables: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DimLocation, DimTime, DimDate, DimRideType, and DimWeather.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8912" y="4219575"/>
            <a:ext cx="484346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• </a:t>
            </a:r>
            <a:r>
              <a:rPr sz="1125" b="1" i="0" u="none">
                <a:solidFill>
                  <a:srgbClr val="CBD5E1"/>
                </a:solidFill>
                <a:latin typeface="Inter"/>
              </a:rPr>
              <a:t>Optimization: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Indexing on timestamp and location keys for sub-second DAX query execution.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2952750"/>
            <a:ext cx="238125" cy="1905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8912" y="2952750"/>
            <a:ext cx="219075" cy="1905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33400" y="438150"/>
            <a:ext cx="11658600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Poppins"/>
              </a:rPr>
              <a:t>Data Engineering Specs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790700"/>
            <a:ext cx="6897588" cy="4000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6391275"/>
            <a:ext cx="11125200" cy="26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8850" y="538162"/>
            <a:ext cx="1809750" cy="285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400" y="6515100"/>
            <a:ext cx="32766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Student: </a:t>
            </a:r>
            <a:r>
              <a:rPr sz="900" b="0" i="0" u="none">
                <a:solidFill>
                  <a:srgbClr val="94A3B8"/>
                </a:solidFill>
                <a:latin typeface="Inter"/>
              </a:rPr>
              <a:t>Edita Avetisyan</a:t>
            </a:r>
            <a:r>
              <a:rPr sz="900" b="0" i="0" u="none">
                <a:solidFill>
                  <a:srgbClr val="64748B"/>
                </a:solidFill>
                <a:latin typeface="Inter"/>
              </a:rPr>
              <a:t> | Lecturer: </a:t>
            </a:r>
            <a:r>
              <a:rPr sz="900" b="0" i="0" u="none">
                <a:solidFill>
                  <a:srgbClr val="94A3B8"/>
                </a:solidFill>
                <a:latin typeface="Inter"/>
              </a:rPr>
              <a:t>Artyom Gasparyan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8450" y="6515100"/>
            <a:ext cx="12001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Ardy Academy •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64363" y="2143125"/>
            <a:ext cx="4427636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FACC15"/>
                </a:solidFill>
                <a:latin typeface="Poppins"/>
              </a:rPr>
              <a:t>Analytical Modules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64363" y="2543175"/>
            <a:ext cx="4227462" cy="29527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78663" y="2619375"/>
            <a:ext cx="399886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1" i="0" u="none">
                <a:solidFill>
                  <a:srgbClr val="F1F5F9"/>
                </a:solidFill>
                <a:latin typeface="Inter"/>
              </a:rPr>
              <a:t>1. Executive Overview:</a:t>
            </a:r>
            <a:r>
              <a:rPr sz="937" b="0" i="0" u="none">
                <a:solidFill>
                  <a:srgbClr val="F1F5F9"/>
                </a:solidFill>
                <a:latin typeface="Inter"/>
              </a:rPr>
              <a:t> High-level KPIs &amp; performance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64363" y="2543175"/>
            <a:ext cx="28575" cy="295275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64363" y="2914650"/>
            <a:ext cx="4227462" cy="29527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78663" y="2990850"/>
            <a:ext cx="399886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1" i="0" u="none">
                <a:solidFill>
                  <a:srgbClr val="F1F5F9"/>
                </a:solidFill>
                <a:latin typeface="Inter"/>
              </a:rPr>
              <a:t>2. Pricing Intelligence:</a:t>
            </a:r>
            <a:r>
              <a:rPr sz="937" b="0" i="0" u="none">
                <a:solidFill>
                  <a:srgbClr val="F1F5F9"/>
                </a:solidFill>
                <a:latin typeface="Inter"/>
              </a:rPr>
              <a:t> District heatmaps &amp; surge grids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64363" y="2914650"/>
            <a:ext cx="28575" cy="2952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64363" y="3286125"/>
            <a:ext cx="4227462" cy="29527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78663" y="3362325"/>
            <a:ext cx="399886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1" i="0" u="none">
                <a:solidFill>
                  <a:srgbClr val="F1F5F9"/>
                </a:solidFill>
                <a:latin typeface="Inter"/>
              </a:rPr>
              <a:t>3. Demand &amp; ETA Analysis:</a:t>
            </a:r>
            <a:r>
              <a:rPr sz="937" b="0" i="0" u="none">
                <a:solidFill>
                  <a:srgbClr val="F1F5F9"/>
                </a:solidFill>
                <a:latin typeface="Inter"/>
              </a:rPr>
              <a:t> ETA heatmaps &amp; weather impact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64363" y="3286125"/>
            <a:ext cx="28575" cy="295275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764363" y="3657600"/>
            <a:ext cx="4227462" cy="29527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78663" y="3733800"/>
            <a:ext cx="399886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1" i="0" u="none">
                <a:solidFill>
                  <a:srgbClr val="F1F5F9"/>
                </a:solidFill>
                <a:latin typeface="Inter"/>
              </a:rPr>
              <a:t>4. Geographic Analysis:</a:t>
            </a:r>
            <a:r>
              <a:rPr sz="937" b="0" i="0" u="none">
                <a:solidFill>
                  <a:srgbClr val="F1F5F9"/>
                </a:solidFill>
                <a:latin typeface="Inter"/>
              </a:rPr>
              <a:t> Map pricing across Armenia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64363" y="3657600"/>
            <a:ext cx="28575" cy="2952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764363" y="4029075"/>
            <a:ext cx="4227462" cy="29527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78663" y="4105275"/>
            <a:ext cx="399886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1" i="0" u="none">
                <a:solidFill>
                  <a:srgbClr val="F1F5F9"/>
                </a:solidFill>
                <a:latin typeface="Inter"/>
              </a:rPr>
              <a:t>5. Time Analysis:</a:t>
            </a:r>
            <a:r>
              <a:rPr sz="937" b="0" i="0" u="none">
                <a:solidFill>
                  <a:srgbClr val="F1F5F9"/>
                </a:solidFill>
                <a:latin typeface="Inter"/>
              </a:rPr>
              <a:t> Hour/Day seasonality &amp; trendlines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64363" y="4029075"/>
            <a:ext cx="28575" cy="295275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764363" y="4400550"/>
            <a:ext cx="4227462" cy="29527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78663" y="4476750"/>
            <a:ext cx="399886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1" i="0" u="none">
                <a:solidFill>
                  <a:srgbClr val="F1F5F9"/>
                </a:solidFill>
                <a:latin typeface="Inter"/>
              </a:rPr>
              <a:t>6. Route Analytics:</a:t>
            </a:r>
            <a:r>
              <a:rPr sz="937" b="0" i="0" u="none">
                <a:solidFill>
                  <a:srgbClr val="F1F5F9"/>
                </a:solidFill>
                <a:latin typeface="Inter"/>
              </a:rPr>
              <a:t> Top origin-destination corridors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64363" y="4400550"/>
            <a:ext cx="28575" cy="2952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64363" y="4772025"/>
            <a:ext cx="4227462" cy="29527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78663" y="4848225"/>
            <a:ext cx="399886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1" i="0" u="none">
                <a:solidFill>
                  <a:srgbClr val="F1F5F9"/>
                </a:solidFill>
                <a:latin typeface="Inter"/>
              </a:rPr>
              <a:t>7. Ride Type Analysis:</a:t>
            </a:r>
            <a:r>
              <a:rPr sz="937" b="0" i="0" u="none">
                <a:solidFill>
                  <a:srgbClr val="F1F5F9"/>
                </a:solidFill>
                <a:latin typeface="Inter"/>
              </a:rPr>
              <a:t> Tier breakdown (Economy vs Business)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64363" y="4772025"/>
            <a:ext cx="28575" cy="295275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764363" y="5143500"/>
            <a:ext cx="4227462" cy="29527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78663" y="5219700"/>
            <a:ext cx="399886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1" i="0" u="none" dirty="0">
                <a:solidFill>
                  <a:srgbClr val="F1F5F9"/>
                </a:solidFill>
                <a:latin typeface="Inter"/>
              </a:rPr>
              <a:t>8. Predictive Insights:</a:t>
            </a:r>
            <a:r>
              <a:rPr sz="937" b="0" i="0" u="none" dirty="0">
                <a:solidFill>
                  <a:srgbClr val="F1F5F9"/>
                </a:solidFill>
                <a:latin typeface="Inter"/>
              </a:rPr>
              <a:t> Fare forecasting models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64363" y="5143500"/>
            <a:ext cx="28575" cy="2952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33400" y="484830"/>
            <a:ext cx="11658600" cy="3924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 dirty="0">
                <a:solidFill>
                  <a:srgbClr val="FFFFFF"/>
                </a:solidFill>
                <a:latin typeface="Poppins"/>
              </a:rPr>
              <a:t>Power BI </a:t>
            </a:r>
            <a:r>
              <a:rPr lang="en-US" sz="2550" b="1" i="0" u="none" dirty="0">
                <a:solidFill>
                  <a:srgbClr val="FFFFFF"/>
                </a:solidFill>
                <a:latin typeface="Poppins"/>
              </a:rPr>
              <a:t>Dashboard &amp; Report</a:t>
            </a:r>
            <a:endParaRPr sz="2550" b="1" i="0" u="none" dirty="0">
              <a:solidFill>
                <a:srgbClr val="FFFFFF"/>
              </a:solidFill>
              <a:latin typeface="Poppins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654C6F35-3783-70DF-4BF7-90C2EF4701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399" y="1627187"/>
            <a:ext cx="6897589" cy="42132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664" y="2843212"/>
            <a:ext cx="304800" cy="30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3290887"/>
            <a:ext cx="2447478" cy="12668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7139" y="2843212"/>
            <a:ext cx="3048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5874" y="3290887"/>
            <a:ext cx="2447478" cy="12668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9614" y="2843212"/>
            <a:ext cx="3048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8349" y="3290887"/>
            <a:ext cx="2447478" cy="1447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82088" y="2843212"/>
            <a:ext cx="3048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10823" y="3290887"/>
            <a:ext cx="2447478" cy="12668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3400" y="6391275"/>
            <a:ext cx="11125200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67925" y="538162"/>
            <a:ext cx="1590675" cy="2857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33400" y="6515100"/>
            <a:ext cx="32766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Student: </a:t>
            </a:r>
            <a:r>
              <a:rPr sz="900" b="0" i="0" u="none">
                <a:solidFill>
                  <a:srgbClr val="94A3B8"/>
                </a:solidFill>
                <a:latin typeface="Inter"/>
              </a:rPr>
              <a:t>Edita Avetisyan</a:t>
            </a:r>
            <a:r>
              <a:rPr sz="900" b="0" i="0" u="none">
                <a:solidFill>
                  <a:srgbClr val="64748B"/>
                </a:solidFill>
                <a:latin typeface="Inter"/>
              </a:rPr>
              <a:t> | Lecturer: </a:t>
            </a:r>
            <a:r>
              <a:rPr sz="900" b="0" i="0" u="none">
                <a:solidFill>
                  <a:srgbClr val="94A3B8"/>
                </a:solidFill>
                <a:latin typeface="Inter"/>
              </a:rPr>
              <a:t>Artyom Gasparyan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8450" y="6515100"/>
            <a:ext cx="12001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Ardy Academy •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89564" y="3776662"/>
            <a:ext cx="10012870" cy="285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4375" y="3471862"/>
            <a:ext cx="2189804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ACC15"/>
                </a:solidFill>
                <a:latin typeface="Inter SemiBold"/>
              </a:rPr>
              <a:t>Phase 1: Scraping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375" y="3709987"/>
            <a:ext cx="2085528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94A3B8"/>
                </a:solidFill>
                <a:latin typeface="Inter"/>
              </a:rPr>
              <a:t>• Setup Playwright scripts</a:t>
            </a:r>
            <a:r>
              <a:t>
</a:t>
            </a:r>
            <a:r>
              <a:rPr sz="937" b="0" i="0" u="none">
                <a:solidFill>
                  <a:srgbClr val="94A3B8"/>
                </a:solidFill>
                <a:latin typeface="Inter"/>
              </a:rPr>
              <a:t> • Define location matrix</a:t>
            </a:r>
            <a:r>
              <a:t>
</a:t>
            </a:r>
            <a:r>
              <a:rPr sz="937" b="0" i="0" u="none">
                <a:solidFill>
                  <a:srgbClr val="94A3B8"/>
                </a:solidFill>
                <a:latin typeface="Inter"/>
              </a:rPr>
              <a:t> • JSON parser development</a:t>
            </a:r>
            <a:r>
              <a:t>
</a:t>
            </a:r>
            <a:r>
              <a:rPr sz="937" b="0" i="0" u="none">
                <a:solidFill>
                  <a:srgbClr val="94A3B8"/>
                </a:solidFill>
                <a:latin typeface="Inter"/>
              </a:rPr>
              <a:t> • 15-min automated cron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6849" y="3471862"/>
            <a:ext cx="2189804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ACC15"/>
                </a:solidFill>
                <a:latin typeface="Inter SemiBold"/>
              </a:rPr>
              <a:t>Phase 2: 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6849" y="3709987"/>
            <a:ext cx="2085528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94A3B8"/>
                </a:solidFill>
                <a:latin typeface="Inter"/>
              </a:rPr>
              <a:t>• MySQL schema setup</a:t>
            </a:r>
            <a:r>
              <a:t>
</a:t>
            </a:r>
            <a:r>
              <a:rPr sz="937" b="0" i="0" u="none">
                <a:solidFill>
                  <a:srgbClr val="94A3B8"/>
                </a:solidFill>
                <a:latin typeface="Inter"/>
              </a:rPr>
              <a:t> • Star Schema creation</a:t>
            </a:r>
            <a:r>
              <a:t>
</a:t>
            </a:r>
            <a:r>
              <a:rPr sz="937" b="0" i="0" u="none">
                <a:solidFill>
                  <a:srgbClr val="94A3B8"/>
                </a:solidFill>
                <a:latin typeface="Inter"/>
              </a:rPr>
              <a:t> • Index optimization</a:t>
            </a:r>
            <a:r>
              <a:t>
</a:t>
            </a:r>
            <a:r>
              <a:rPr sz="937" b="0" i="0" u="none">
                <a:solidFill>
                  <a:srgbClr val="94A3B8"/>
                </a:solidFill>
                <a:latin typeface="Inter"/>
              </a:rPr>
              <a:t> • Historical data backfill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9324" y="3471862"/>
            <a:ext cx="2189804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ACC15"/>
                </a:solidFill>
                <a:latin typeface="Inter SemiBold"/>
              </a:rPr>
              <a:t>Phase 3: Business 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9324" y="3890962"/>
            <a:ext cx="2085528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 dirty="0">
                <a:solidFill>
                  <a:srgbClr val="94A3B8"/>
                </a:solidFill>
                <a:latin typeface="Inter"/>
              </a:rPr>
              <a:t>• Power BI integration</a:t>
            </a:r>
            <a:r>
              <a:rPr dirty="0"/>
              <a:t>
</a:t>
            </a:r>
            <a:r>
              <a:rPr sz="937" b="0" i="0" u="none" dirty="0">
                <a:solidFill>
                  <a:srgbClr val="94A3B8"/>
                </a:solidFill>
                <a:latin typeface="Inter"/>
              </a:rPr>
              <a:t> • DAX measures setup</a:t>
            </a:r>
            <a:r>
              <a:rPr dirty="0"/>
              <a:t>
</a:t>
            </a:r>
            <a:r>
              <a:rPr sz="937" b="0" i="0" u="none" dirty="0">
                <a:solidFill>
                  <a:srgbClr val="94A3B8"/>
                </a:solidFill>
                <a:latin typeface="Inter"/>
              </a:rPr>
              <a:t> • Dashboard views</a:t>
            </a:r>
            <a:r>
              <a:rPr dirty="0"/>
              <a:t>
</a:t>
            </a:r>
            <a:r>
              <a:rPr sz="937" b="0" i="0" u="none" dirty="0">
                <a:solidFill>
                  <a:srgbClr val="94A3B8"/>
                </a:solidFill>
                <a:latin typeface="Inter"/>
              </a:rPr>
              <a:t> • Interactivity &amp; filters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1798" y="3471862"/>
            <a:ext cx="2189804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ACC15"/>
                </a:solidFill>
                <a:latin typeface="Inter SemiBold"/>
              </a:rPr>
              <a:t>Phase 4: ML &amp; Delivery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1798" y="3709987"/>
            <a:ext cx="2085528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94A3B8"/>
                </a:solidFill>
                <a:latin typeface="Inter"/>
              </a:rPr>
              <a:t>• Predictive fare models</a:t>
            </a:r>
            <a:r>
              <a:t>
</a:t>
            </a:r>
            <a:r>
              <a:rPr sz="937" b="0" i="0" u="none">
                <a:solidFill>
                  <a:srgbClr val="94A3B8"/>
                </a:solidFill>
                <a:latin typeface="Inter"/>
              </a:rPr>
              <a:t> • Executive report</a:t>
            </a:r>
            <a:r>
              <a:t>
</a:t>
            </a:r>
            <a:r>
              <a:rPr sz="937" b="0" i="0" u="none">
                <a:solidFill>
                  <a:srgbClr val="94A3B8"/>
                </a:solidFill>
                <a:latin typeface="Inter"/>
              </a:rPr>
              <a:t> • Technical documentation</a:t>
            </a:r>
            <a:r>
              <a:t>
</a:t>
            </a:r>
            <a:r>
              <a:rPr sz="937" b="0" i="0" u="none">
                <a:solidFill>
                  <a:srgbClr val="94A3B8"/>
                </a:solidFill>
                <a:latin typeface="Inter"/>
              </a:rPr>
              <a:t> • GitHub repo release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438150"/>
            <a:ext cx="11658600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Poppins"/>
              </a:rPr>
              <a:t>Implementation Roadmap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476500"/>
            <a:ext cx="11125200" cy="2628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6391275"/>
            <a:ext cx="11125200" cy="26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9875" y="538162"/>
            <a:ext cx="1228725" cy="285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400" y="6515100"/>
            <a:ext cx="32766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Student: </a:t>
            </a:r>
            <a:r>
              <a:rPr sz="900" b="0" i="0" u="none">
                <a:solidFill>
                  <a:srgbClr val="94A3B8"/>
                </a:solidFill>
                <a:latin typeface="Inter"/>
              </a:rPr>
              <a:t>Edita Avetisyan</a:t>
            </a:r>
            <a:r>
              <a:rPr sz="900" b="0" i="0" u="none">
                <a:solidFill>
                  <a:srgbClr val="64748B"/>
                </a:solidFill>
                <a:latin typeface="Inter"/>
              </a:rPr>
              <a:t> | Lecturer: </a:t>
            </a:r>
            <a:r>
              <a:rPr sz="900" b="0" i="0" u="none">
                <a:solidFill>
                  <a:srgbClr val="94A3B8"/>
                </a:solidFill>
                <a:latin typeface="Inter"/>
              </a:rPr>
              <a:t>Artyom Gasparyan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8450" y="6515100"/>
            <a:ext cx="12001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Ardy Academy •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2925" y="2486025"/>
            <a:ext cx="11106150" cy="2609850"/>
          </a:xfrm>
          <a:prstGeom prst="roundRect">
            <a:avLst>
              <a:gd name="adj" fmla="val 0"/>
            </a:avLst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0666228"/>
              </p:ext>
            </p:extLst>
          </p:nvPr>
        </p:nvGraphicFramePr>
        <p:xfrm>
          <a:off x="542925" y="2486025"/>
          <a:ext cx="11106148" cy="2609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2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2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509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97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ACC15"/>
                          </a:solidFill>
                          <a:latin typeface="Poppins SemiBold"/>
                        </a:rPr>
                        <a:t>Deliverable Component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ACC15"/>
                          </a:solidFill>
                          <a:latin typeface="Poppins SemiBold"/>
                        </a:rPr>
                        <a:t>Technical Stack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ACC15"/>
                          </a:solidFill>
                          <a:latin typeface="Poppins SemiBold"/>
                        </a:rPr>
                        <a:t>Key Output / Description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FFFFF"/>
                          </a:solidFill>
                          <a:latin typeface="Inter SemiBold"/>
                        </a:rPr>
                        <a:t>Automated Data Scraper</a:t>
                      </a:r>
                    </a:p>
                  </a:txBody>
                  <a:tcPr marL="3524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Python + Playwright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Headless automated browser pipeline extracting JSON pricing every 15 min.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algn="l"/>
                      <a:r>
                        <a:rPr sz="1012" b="0" i="0" u="none" dirty="0">
                          <a:solidFill>
                            <a:srgbClr val="FFFFFF"/>
                          </a:solidFill>
                          <a:latin typeface="Inter SemiBold"/>
                        </a:rPr>
                        <a:t>Relational Data Warehouse</a:t>
                      </a:r>
                    </a:p>
                  </a:txBody>
                  <a:tcPr marL="3048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MySQL Engine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Star schema relational store with </a:t>
                      </a:r>
                      <a:r>
                        <a:rPr sz="1012" b="0" i="0" u="none" dirty="0" err="1">
                          <a:solidFill>
                            <a:srgbClr val="CBD5E1"/>
                          </a:solidFill>
                          <a:latin typeface="Inter"/>
                        </a:rPr>
                        <a:t>FactRideEstimates</a:t>
                      </a:r>
                      <a:r>
                        <a:rPr sz="1012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 &amp; 5 dimension tables.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FFFFF"/>
                          </a:solidFill>
                          <a:latin typeface="Inter SemiBold"/>
                        </a:rPr>
                        <a:t>Data Transformation Pipeline</a:t>
                      </a:r>
                    </a:p>
                  </a:txBody>
                  <a:tcPr marL="3524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Python + Pandas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Automated ETL script handling data validation, cleaning, and database loading.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FFFFF"/>
                          </a:solidFill>
                          <a:latin typeface="Inter SemiBold"/>
                        </a:rPr>
                        <a:t>Power BI Executive Suite</a:t>
                      </a:r>
                    </a:p>
                  </a:txBody>
                  <a:tcPr marL="3238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Power BI Desktop + DAX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Interactive 8-tab dashboard deck with real-time dynamic filters and heatmaps.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FFFFF"/>
                          </a:solidFill>
                          <a:latin typeface="Inter SemiBold"/>
                        </a:rPr>
                        <a:t>Project Portfolio &amp; Docs</a:t>
                      </a:r>
                    </a:p>
                  </a:txBody>
                  <a:tcPr marL="2857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GitHub Repository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Complete source code, technical documentation, SQL scripts, and project writeup.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42925" y="2947987"/>
            <a:ext cx="279275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35684" y="2947987"/>
            <a:ext cx="216247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98157" y="2947987"/>
            <a:ext cx="615091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2925" y="3376612"/>
            <a:ext cx="279275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35684" y="3376612"/>
            <a:ext cx="216247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98157" y="3376612"/>
            <a:ext cx="615091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2925" y="3805237"/>
            <a:ext cx="279275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35684" y="3805237"/>
            <a:ext cx="216247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98157" y="3805237"/>
            <a:ext cx="615091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2925" y="4233862"/>
            <a:ext cx="279275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335684" y="4233862"/>
            <a:ext cx="216247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98157" y="4233862"/>
            <a:ext cx="615091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2925" y="4662487"/>
            <a:ext cx="279275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335684" y="4662487"/>
            <a:ext cx="216247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98157" y="4662487"/>
            <a:ext cx="615091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25" y="3543300"/>
            <a:ext cx="114300" cy="128587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25" y="4829175"/>
            <a:ext cx="95250" cy="128587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4400550"/>
            <a:ext cx="133350" cy="128587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425" y="3971925"/>
            <a:ext cx="161925" cy="128587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425" y="3114675"/>
            <a:ext cx="161925" cy="128587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425" y="3114675"/>
            <a:ext cx="161925" cy="128587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25" y="3543300"/>
            <a:ext cx="114300" cy="128587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425" y="3971925"/>
            <a:ext cx="161925" cy="128587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4400550"/>
            <a:ext cx="133350" cy="128587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25" y="4829175"/>
            <a:ext cx="95250" cy="12858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33400" y="438150"/>
            <a:ext cx="11658600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Poppins"/>
              </a:rPr>
              <a:t>Expected Project Scope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6391275"/>
            <a:ext cx="11125200" cy="266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3400" y="6515100"/>
            <a:ext cx="27336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900" b="0" i="0" u="none" dirty="0">
                <a:solidFill>
                  <a:srgbClr val="64748B"/>
                </a:solidFill>
                <a:latin typeface="Inter"/>
              </a:rPr>
              <a:t>Capstone Project </a:t>
            </a:r>
            <a:r>
              <a:rPr sz="900" b="0" i="0" u="none" dirty="0">
                <a:solidFill>
                  <a:srgbClr val="64748B"/>
                </a:solidFill>
                <a:latin typeface="Inter"/>
              </a:rPr>
              <a:t>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8450" y="6515100"/>
            <a:ext cx="12001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Ardy Academy •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30516" y="1905000"/>
            <a:ext cx="7730966" cy="904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FFFFFF"/>
                </a:solidFill>
                <a:latin typeface="Poppins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14587" y="2952750"/>
            <a:ext cx="73628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38BDF8"/>
                </a:solidFill>
                <a:latin typeface="Inter"/>
              </a:rPr>
              <a:t>Thank you for reviewing this project proposal!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14587" y="4791075"/>
            <a:ext cx="73628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94A3B8"/>
                </a:solidFill>
                <a:latin typeface="Inter"/>
              </a:rPr>
              <a:t>Student: </a:t>
            </a:r>
            <a:r>
              <a:rPr sz="1050" b="1" i="0" u="none">
                <a:solidFill>
                  <a:srgbClr val="FFFFFF"/>
                </a:solidFill>
                <a:latin typeface="Inter"/>
              </a:rPr>
              <a:t>Edita Avetisyan</a:t>
            </a:r>
            <a:r>
              <a:rPr sz="1050" b="0" i="0" u="none">
                <a:solidFill>
                  <a:srgbClr val="94A3B8"/>
                </a:solidFill>
                <a:latin typeface="Inter"/>
              </a:rPr>
              <a:t>  |  Lecturer: </a:t>
            </a:r>
            <a:r>
              <a:rPr sz="1050" b="1" i="0" u="none">
                <a:solidFill>
                  <a:srgbClr val="FFFFFF"/>
                </a:solidFill>
                <a:latin typeface="Inter"/>
              </a:rPr>
              <a:t>Artyom Gasparyan</a:t>
            </a:r>
            <a:r>
              <a:rPr sz="1050" b="0" i="0" u="none">
                <a:solidFill>
                  <a:srgbClr val="94A3B8"/>
                </a:solidFill>
                <a:latin typeface="Inter"/>
              </a:rPr>
              <a:t>  |  </a:t>
            </a:r>
            <a:r>
              <a:rPr sz="1050" b="1" i="0" u="none">
                <a:solidFill>
                  <a:srgbClr val="FACC15"/>
                </a:solidFill>
                <a:latin typeface="Inter"/>
              </a:rPr>
              <a:t>Ardy Academy (2026)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2412" y="3829050"/>
            <a:ext cx="371475" cy="381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24387" y="3829050"/>
            <a:ext cx="368046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FFFFFF"/>
                </a:solidFill>
                <a:latin typeface="Inter"/>
              </a:rPr>
              <a:t>GitHub Project Repository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4387" y="4057650"/>
            <a:ext cx="3505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94A3B8"/>
                </a:solidFill>
                <a:latin typeface="Inter"/>
              </a:rPr>
              <a:t>github.com/</a:t>
            </a:r>
            <a:r>
              <a:rPr sz="975" b="0" i="0" u="none" dirty="0" err="1">
                <a:solidFill>
                  <a:srgbClr val="94A3B8"/>
                </a:solidFill>
                <a:latin typeface="Inter"/>
              </a:rPr>
              <a:t>edita-avetisyan</a:t>
            </a:r>
            <a:endParaRPr sz="975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968</Words>
  <Application>Microsoft Office PowerPoint</Application>
  <PresentationFormat>Widescreen</PresentationFormat>
  <Paragraphs>115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Inter</vt:lpstr>
      <vt:lpstr>Inter Medium</vt:lpstr>
      <vt:lpstr>Inter SemiBold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Edita Avetisyan</cp:lastModifiedBy>
  <cp:revision>12</cp:revision>
  <dcterms:created xsi:type="dcterms:W3CDTF">2013-01-27T09:14:16Z</dcterms:created>
  <dcterms:modified xsi:type="dcterms:W3CDTF">2026-08-03T13:35:34Z</dcterms:modified>
  <cp:category/>
</cp:coreProperties>
</file>